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648eb3bd934c6a" /><Relationship Type="http://schemas.openxmlformats.org/officeDocument/2006/relationships/extended-properties" Target="/docProps/app.xml" Id="R9e2eb1da94524d35" /><Relationship Type="http://schemas.openxmlformats.org/officeDocument/2006/relationships/officeDocument" Target="/ppt/presentation.xml" Id="R87b771ef58bf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99ce666244efe"/>
  </p:sldMasterIdLst>
  <p:notesMasterIdLst>
    <p:notesMasterId xmlns:r="http://schemas.openxmlformats.org/officeDocument/2006/relationships" r:id="Rc82a2a7f46fa41c3"/>
  </p:notesMasterIdLst>
  <p:sldIdLst>
    <p:sldId xmlns:r="http://schemas.openxmlformats.org/officeDocument/2006/relationships" id="256" r:id="Ra6f48337b81c4998"/>
    <p:sldId xmlns:r="http://schemas.openxmlformats.org/officeDocument/2006/relationships" id="257" r:id="R8db45c3a3e954408"/>
    <p:sldId xmlns:r="http://schemas.openxmlformats.org/officeDocument/2006/relationships" id="258" r:id="Rdc054f2895824636"/>
    <p:sldId xmlns:r="http://schemas.openxmlformats.org/officeDocument/2006/relationships" id="259" r:id="Ra7463e268e9a4276"/>
    <p:sldId xmlns:r="http://schemas.openxmlformats.org/officeDocument/2006/relationships" id="260" r:id="R6b3af617d9ca4bf8"/>
    <p:sldId xmlns:r="http://schemas.openxmlformats.org/officeDocument/2006/relationships" id="261" r:id="R429539815fd74e21"/>
    <p:sldId xmlns:r="http://schemas.openxmlformats.org/officeDocument/2006/relationships" id="262" r:id="R2cf812897d9b4e79"/>
    <p:sldId xmlns:r="http://schemas.openxmlformats.org/officeDocument/2006/relationships" id="263" r:id="R50874f569792489d"/>
    <p:sldId xmlns:r="http://schemas.openxmlformats.org/officeDocument/2006/relationships" id="264" r:id="Rd2ec3a81cba944a4"/>
    <p:sldId xmlns:r="http://schemas.openxmlformats.org/officeDocument/2006/relationships" id="265" r:id="Re693db52dada4f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a3d1678d641e9" /><Relationship Type="http://schemas.openxmlformats.org/officeDocument/2006/relationships/slideMaster" Target="/ppt/slideMasters/slideMaster1.xml" Id="R50c99ce666244efe" /><Relationship Type="http://schemas.openxmlformats.org/officeDocument/2006/relationships/notesMaster" Target="/ppt/notesMasters/notesMaster1.xml" Id="Rc82a2a7f46fa41c3" /><Relationship Type="http://schemas.openxmlformats.org/officeDocument/2006/relationships/presProps" Target="/ppt/presProps.xml" Id="Rec0c60934a4f4a4e" /><Relationship Type="http://schemas.openxmlformats.org/officeDocument/2006/relationships/tableStyles" Target="/ppt/tableStyles.xml" Id="R7ba1ff5547ce4ff0" /><Relationship Type="http://schemas.openxmlformats.org/officeDocument/2006/relationships/slide" Target="/ppt/slides/slide1.xml" Id="Ra6f48337b81c4998" /><Relationship Type="http://schemas.openxmlformats.org/officeDocument/2006/relationships/slide" Target="/ppt/slides/slide2.xml" Id="R8db45c3a3e954408" /><Relationship Type="http://schemas.openxmlformats.org/officeDocument/2006/relationships/slide" Target="/ppt/slides/slide3.xml" Id="Rdc054f2895824636" /><Relationship Type="http://schemas.openxmlformats.org/officeDocument/2006/relationships/slide" Target="/ppt/slides/slide4.xml" Id="Ra7463e268e9a4276" /><Relationship Type="http://schemas.openxmlformats.org/officeDocument/2006/relationships/slide" Target="/ppt/slides/slide5.xml" Id="R6b3af617d9ca4bf8" /><Relationship Type="http://schemas.openxmlformats.org/officeDocument/2006/relationships/slide" Target="/ppt/slides/slide6.xml" Id="R429539815fd74e21" /><Relationship Type="http://schemas.openxmlformats.org/officeDocument/2006/relationships/slide" Target="/ppt/slides/slide7.xml" Id="R2cf812897d9b4e79" /><Relationship Type="http://schemas.openxmlformats.org/officeDocument/2006/relationships/slide" Target="/ppt/slides/slide8.xml" Id="R50874f569792489d" /><Relationship Type="http://schemas.openxmlformats.org/officeDocument/2006/relationships/slide" Target="/ppt/slides/slide9.xml" Id="Rd2ec3a81cba944a4" /><Relationship Type="http://schemas.openxmlformats.org/officeDocument/2006/relationships/slide" Target="/ppt/slides/slide10.xml" Id="Re693db52dada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e1484fbaed42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d61a0f3d1484e" /><Relationship Type="http://schemas.openxmlformats.org/officeDocument/2006/relationships/notesMaster" Target="/ppt/notesMasters/notesMaster1.xml" Id="Rdd113449dcdc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ec7b58c2b4125" /><Relationship Type="http://schemas.openxmlformats.org/officeDocument/2006/relationships/notesMaster" Target="/ppt/notesMasters/notesMaster1.xml" Id="Re4f68ea5fa6d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49aa45db8d4d2e" /><Relationship Type="http://schemas.openxmlformats.org/officeDocument/2006/relationships/notesMaster" Target="/ppt/notesMasters/notesMaster1.xml" Id="Ra27f6797fff7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bcba18bd6f47f6" /><Relationship Type="http://schemas.openxmlformats.org/officeDocument/2006/relationships/notesMaster" Target="/ppt/notesMasters/notesMaster1.xml" Id="Rc6e03bae1c3a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69dd717794155" /><Relationship Type="http://schemas.openxmlformats.org/officeDocument/2006/relationships/notesMaster" Target="/ppt/notesMasters/notesMaster1.xml" Id="R1fb71cf62e83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951e628a924d32" /><Relationship Type="http://schemas.openxmlformats.org/officeDocument/2006/relationships/notesMaster" Target="/ppt/notesMasters/notesMaster1.xml" Id="R453b4f9edf574d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3b10517c264942" /><Relationship Type="http://schemas.openxmlformats.org/officeDocument/2006/relationships/notesMaster" Target="/ppt/notesMasters/notesMaster1.xml" Id="R45a5609b24e542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cf36894ae745a0" /><Relationship Type="http://schemas.openxmlformats.org/officeDocument/2006/relationships/notesMaster" Target="/ppt/notesMasters/notesMaster1.xml" Id="R366eeee6c8f8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b5e184fd4e41dc" /><Relationship Type="http://schemas.openxmlformats.org/officeDocument/2006/relationships/notesMaster" Target="/ppt/notesMasters/notesMaster1.xml" Id="Rd0cac587e0b74d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25ae02058f456d" /><Relationship Type="http://schemas.openxmlformats.org/officeDocument/2006/relationships/notesMaster" Target="/ppt/notesMasters/notesMaster1.xml" Id="R5dc758450560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开场说明参赛方向与核心结果：Mooncake Store promotion-on-hit 在 transient admission failure 后不再丢失 hot key，最终本地验证 43/43 通过，benchmark 证明无需额外 foreground Get。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解释原问题：transient gate 不是永久失败，但原逻辑在 cap 或 watermark gate 拒绝后不保存候选，导致资源恢复后没有自动 promotion。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 before 和 after：旧链路丢弃机会，新链路只增加内部 candidate map 和后台重评估，成功时仍走原有 promotion task、holder queue、refcnt pin 和 metrics。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说明架构：Get 只负责发现，候选状态在 TenantState 中；eviction loop 负责按 tick 扫描，释放 shard lock 后在 snapshot shared lock 下重入原 admission。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强调失败分类：transient 才进入 retry；对象删除、已有 memory replica、无 local disk source、已有 in-flight task 都直接清理，避免死循环和无效工作。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 guardrails：candidate 数量上限、TTL、最大尝试次数、指数退避、分片扫描，以及 snapshot shared lock 和饱和递减，保证后台 retry 不会成为新风险。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说明贡献面：生产改动集中在 master_service，测试和 benchmark 单独补齐，不改变外部协议，不要求客户端升级。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展示测试矩阵：重点是 cap 重试、永久失败清理、max attempts give-up、metadata reset 和计数器安全。最后强调全套 43/43 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benchmark：两个 hot local-disk-only key，queue limit 为 1。第一个占满 slot，第二个被 cap 拒绝。释放 slot 后只用 heartbeat 观察 retry，结果 fallback_reads_needed 等于 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结尾总结价值：不改协议，低风险；bounded retry 提升可靠性；测试和 benchmark 给出可复现实验路径。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c7277b3c3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c06aa099e4437" /><Relationship Type="http://schemas.openxmlformats.org/officeDocument/2006/relationships/slideLayout" Target="/ppt/slideLayouts/slideLayout1.xml" Id="R8699f4e2a2b340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99f4e2a2b340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0e064adab4028" /><Relationship Type="http://schemas.openxmlformats.org/officeDocument/2006/relationships/notesSlide" Target="/ppt/notesSlides/notesSlide1.xml" Id="R52c107907f2a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a7bd8588a4fde" /><Relationship Type="http://schemas.openxmlformats.org/officeDocument/2006/relationships/notesSlide" Target="/ppt/notesSlides/notesSlide2.xml" Id="R40b02e7dbda4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baaf5d7334be0" /><Relationship Type="http://schemas.openxmlformats.org/officeDocument/2006/relationships/notesSlide" Target="/ppt/notesSlides/notesSlide3.xml" Id="Rb97b6408d9ef49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0b6fdbe4841b0" /><Relationship Type="http://schemas.openxmlformats.org/officeDocument/2006/relationships/notesSlide" Target="/ppt/notesSlides/notesSlide4.xml" Id="Rfc3ceaf9bd65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805d94b6342f1" /><Relationship Type="http://schemas.openxmlformats.org/officeDocument/2006/relationships/notesSlide" Target="/ppt/notesSlides/notesSlide5.xml" Id="R6863213789424e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07e5cb14b48ed" /><Relationship Type="http://schemas.openxmlformats.org/officeDocument/2006/relationships/notesSlide" Target="/ppt/notesSlides/notesSlide6.xml" Id="R4fe3ba1b88fa49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d1f62b984931" /><Relationship Type="http://schemas.openxmlformats.org/officeDocument/2006/relationships/notesSlide" Target="/ppt/notesSlides/notesSlide7.xml" Id="R492fe2e9f17f4a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c9d0d9f854405" /><Relationship Type="http://schemas.openxmlformats.org/officeDocument/2006/relationships/notesSlide" Target="/ppt/notesSlides/notesSlide8.xml" Id="Rde06bb8b6f174d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b42ebdb1249b8" /><Relationship Type="http://schemas.openxmlformats.org/officeDocument/2006/relationships/notesSlide" Target="/ppt/notesSlides/notesSlide9.xml" Id="R3ce5cf66c29743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2d4b75a44268" /><Relationship Type="http://schemas.openxmlformats.org/officeDocument/2006/relationships/notesSlide" Target="/ppt/notesSlides/notesSlide10.xml" Id="R151d808180a74f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BC52F2-F60B-4CAE-99C8-B72ECA2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4B54B-754F-46B7-82AA-0E9C888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DA5E0-742F-474C-B9F4-9170647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253B2-E9B7-4919-A4E2-0D0AE4F1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6BFFC-160C-4906-8035-7DA2B9F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932AF-0C86-4A56-828C-C1F0EC3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A43"/>
          </a:solidFill>
          <a:ln xmlns:a="http://schemas.openxmlformats.org/drawingml/2006/main" w="9525">
            <a:solidFill>
              <a:srgbClr val="38BDF8">
                <a:alpha val="3000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CCF OPEN SOURCE INNOVATION CONTEST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7FE3D-3C20-4300-896C-0F7C8A8C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Mooncake Store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8BD69-CEA3-425D-AFBF-DCE95A7E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Promotion-on-hit transient failure retry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F186F-0F9F-404A-9614-4B98538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把一次性 best-effort admission 提升为有边界、有退避、可清理的 master-side retry 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1D52F-948B-4A36-B15C-0FADFFE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1526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17751-7875-4AEA-8135-62624DD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644C7-C327-4384-96CF-682EFAB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43/43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4FBA5-49F1-4597-941A-213C24F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promotion-on-hit regression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A3D18-6461-460B-B929-D8C818B8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1B4CA-68C2-40A8-B5CE-60A76FA3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4041C-ABFC-4499-A2A8-74233750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48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392F6-8C78-4F92-89CB-7E3C35E1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fallback foreground Get after slot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E849D-7691-4F1B-B80F-0D558FA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6860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A05EF-368E-4E30-935C-F02CB4C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E1BB4-3719-44F3-8D3C-F5FA9DB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171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15FE9-48C5-4716-93BF-55FA1A4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local public-heartbeat retry visibility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D6A76-2235-4FF8-AF59-354D5F3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66850"/>
            <a:ext cx="28575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1F3D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F784F-F1AD-43AA-B78A-639DB94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288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28A76-D811-49C2-90DC-24AF1A6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LOCAL_DISK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0BDED-9141-46F9-B44A-CF58441E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537DB-FF88-4AFB-BF18-4F582A22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8288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0EDF5-BB8D-4EEF-912B-428561EA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7515B-F63F-42CD-8746-38D9C9F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master-side bounded retry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E49E6-9E8A-4972-8FE8-827A874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作者：李佳斌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899AEC-98C3-4AF4-9E3F-FAEDBA72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FCD3A-CA08-407D-B993-20288390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CCF 初赛方案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9FE59-5997-4190-B349-1CF2F8C4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6391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1F620-2618-4ADD-BB96-FE760A8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ED2B6-9334-4A49-B937-20166347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7BFEF-4255-4967-91E0-7A78F49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79308-573B-4C08-A495-21CD816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5A5F4-07D4-44B5-8EAE-F11511F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8FF37-1004-4331-ABD7-8F428344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5C4C8-0AF0-4E88-958A-FE3EB12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Transient gate 让 hot key 的 promotion 机会被一次性丢弃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3CC63-9E8C-4C8D-A823-A16CE6D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前台 Get 成功并不代表后台 promotion 成功；资源恢复后 master 原本没有记住这个 hot key。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962A6-5A7B-4C9F-AFFA-8404990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98E4E-CBAF-4A58-8ABA-D2BA1F17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D61E-B7BE-44F7-B58F-CD37E1EE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652CA-F3AC-469E-8C56-9D00BC0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441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949AC-9C63-449F-B13F-41A92E79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3746-62E3-4555-B796-A936E09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24CF5-6195-4E76-8252-B6F5E4B1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hot key only has LOCAL_DISK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FF706-0584-4535-8626-91ED7F90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GetReplicaList 命中 L2，且 frequency gate 已经判定为 hot。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7E4AD-550B-40EB-87C6-C627ED8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4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F3EC7-4DCD-4FC9-8B27-910BFF7D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DE8F5-EBA3-4860-94A4-7A01FF7F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48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20A9B-D4BE-4052-B7DF-2E69F7B4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admission gate is transiently closed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CB529-B944-4395-BCF6-DAB18B3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DRAM watermark、global in-flight cap 或 holder queue push 暂时失败。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0B5FE-4ED2-47B4-BF16-D565071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143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441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1DB3F-6BD1-4A7A-B2D6-66174C3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7629B-3B99-4561-8CC6-DFC8EAE2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480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11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AF75A-76D0-4F1A-BC92-C404C23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promotion opportunity disappears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6E2A-AD0D-4DCC-8D50-C9C85D2D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读请求返回成功，但 promotion 没有排队；下一次仍可能 fallback 到 LOCAL_DISK。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72BE91-1D97-4BC7-A1BF-41EC5C3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EB20A-EE6B-482A-8C01-4F30511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2954-78EF-4C83-B4DF-2F09B13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核心风险：tail latency 和 L2 读放大不会随资源恢复自动收敛。</a:t>
            </a:r>
          </a:p>
        </p:txBody>
      </p:sp>
    </p:spTree>
    <p:extLst>
      <p:ext uri="{BB962C8B-B14F-4D97-AF65-F5344CB8AC3E}">
        <p14:creationId xmlns:p14="http://schemas.microsoft.com/office/powerpoint/2010/main" val="697876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4084C-2E6F-4ADD-8869-3E4765E0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A39A6-A264-4B06-891C-ED9C0CCE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8EFDF-118F-4BC7-A083-46929BF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FE25-01B5-42C1-93BF-DE182364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1F400-8FE8-4429-9383-F8C1D1CD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0514-CC31-4C1D-BC5E-1221ADD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75196-AA5C-4443-B858-F718CB8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从一次性 admission 到有边界的后台重评估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A0254-76F4-414B-B9FA-23EAB1A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不修改 RPC，不阻塞前台 Get，只在 master 内部保存 transient 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73BA2-508E-4A12-AC93-AB6187E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CD643-0295-4C5E-8248-EA5E8DF1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72872-6F2A-4EC3-8934-5D87971A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2EB1F-B797-46EF-B98D-CE6193A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D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942A9-2982-47C2-AEDD-E5875CC6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071B2D"/>
          </a:solidFill>
          <a:ln xmlns:a="http://schemas.openxmlformats.org/drawingml/2006/main" w="9525">
            <a:solidFill>
              <a:srgbClr val="256A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FF192-23F1-40B5-965E-766BEDD9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D2D94-A353-4745-BDC1-D925703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14F4E-3258-4BF9-9203-CEF460B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DA45-8490-4000-A7A4-9DEF8610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F1E2A-681C-48C7-8A5A-7CC816A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hot LOCAL_DISK-only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7CDA1-D6C5-457A-9334-B4C7D0F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0AEB9-058C-405D-98D4-6F6E24D9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F42CB-FA6F-48C9-B143-91748F8D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queue cap / watermark rejects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7ED03-101B-40EE-A181-D0C60D6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CD637-BF39-4429-9A4C-7779082F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E07A1-E213-4A6C-A29E-08B3BCA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return read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5D78F-4459-4205-8671-4ABE6EEB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FF294-6CE4-480B-B874-88198F2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7FDAB-C46F-4760-A0FE-DD022FF0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promotion state lost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F1411-9575-4771-89BE-B24B3E4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A1F10-5A6F-4A7E-BC1A-D4FE227F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EA697-0643-4B2D-98EA-A33C4F0D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record bounded candidate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F854B-E44C-45B7-9651-A54D3EF3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4341F-25BB-41C7-8EEB-366B1C7A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8B484-BF29-4817-9D1C-12BF364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exponential backoff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4B529-AA37-4D72-AE8D-183C08A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9E00F3-035F-46B4-B990-2EEBA13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BCADB-F609-4D8D-9144-C0538CE7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re-enter original admission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F0196A-FB6F-4A05-8043-15B8CDBC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7637E-D538-483A-BA5F-B2A44443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B5171C-8061-4F65-AA74-868BB8B8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815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queued when slot clears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EF7AAF-D824-4EE8-97FB-D7B415B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48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same foreground latency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1CCC1F-BC17-4A53-AD74-1CA5F67A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48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same promotion task path</a:t>
            </a:r>
          </a:p>
        </p:txBody>
      </p:sp>
    </p:spTree>
    <p:extLst>
      <p:ext uri="{BB962C8B-B14F-4D97-AF65-F5344CB8AC3E}">
        <p14:creationId xmlns:p14="http://schemas.microsoft.com/office/powerpoint/2010/main" val="159017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CFB508-FB72-403C-A362-A9EA83A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C9D9-7013-4727-B893-BE804A4E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15A9-0FD1-4695-ADB0-8520EE7F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87A6A-5DBF-46A9-9FD3-4AD6D6AC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5E9A-14DC-4AFA-A73D-9665B15F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4416B-0A43-4244-93C2-6B27457D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CE768-4C6B-43FC-A5CF-1A88B02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Master-side retry：复用 admission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83BD3-36AB-4157-8090-4C834FF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核心是记录 transient candidate，但最终入队仍走原有 admission path。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08829-7A95-44AD-A0AA-F2934A0F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D76A2-FC0B-41F3-A697-30D3D6A9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B5353-5D4B-44C0-8BAF-F5103C8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C8946-0C80-441D-BD87-27901D0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BC530-21D9-4329-BB69-7529FA4A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2E58A-3DCA-4A94-8A1A-AA5B88FD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GetReplicaList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82F23-806C-4324-BA88-45C0DB97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detect LOCAL_DISK-only hot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5026B-3FD4-4D1C-839D-97E81A7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1E6DF-19BB-4698-A054-8AFF27F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00CE9-1059-4842-9B3D-3D17D8A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Candidate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33D68-2500-4528-A716-65E5B05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first_seen / next_retry_time / attempts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7181E-6FA6-4096-BAC3-0AD43295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89316-5212-4E59-9904-A109478C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EE5EF-3F3F-44B3-A493-48B27CBD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Eviction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0C285-69C6-400F-BD81-4CABB892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bounded scan: 64 shards / tick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0102A1-FF43-442E-8324-41B32414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B3615-C621-4A1B-BF1A-1DDE55C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D4B8E-C77A-42BD-8C01-39635F1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Admission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FE9AA-F20E-494C-A048-9AB6D10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original refcnt + holder queue + 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AD6FB-B510-46F5-BF03-8A2A0194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4A352-313C-44A1-8290-00E2AE24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67933-D705-4F46-B459-615EFFF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EC56C-F11B-4C2A-AA75-B2E64DA7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snapshot shared lock on re-entry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A9D96-E942-4006-8CA3-E291C06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BDF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7052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26B85-BF87-4E59-9C83-CC765F88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03FF4-76A3-47A9-991F-C3F0319D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CBC99-0D1E-46B7-99AB-DBA87039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25C31-B154-4EF8-96C0-A9DE63A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B03D4-7806-4751-B0A6-2191F6C9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196D0-F199-484B-9CDE-E650F42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FAILURE TAXONOMY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4E21B-CCB7-4894-B688-279C64C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只重试 transient，不把永久失败变成死循环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CAA36-CC58-4EC1-9490-0CDBDCB5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可靠性的关键不是简单重试，而是明确停止条件。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1A253-72B4-4D0C-BBF9-26C85C9F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011A-826A-478A-B335-0C8D1EDC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F47ED-18F4-4FA0-BD60-23FACC2E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6D2E3-4A11-46B9-A8A1-EE9ADF4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Transient: retry with backoff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D4D60-4227-4938-BF34-A9A416AA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D14FE-9DF1-4C8A-8B16-F45CE13D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4FC13-D09C-4359-B967-C7CDECEC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DRAM watermark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FF9A8-FDF7-4F74-B3B4-4D91851E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FF5C2-A544-4940-BADB-E07D9C9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3D1AE-759F-4569-95A0-7555DC03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promotion_queue_limit cap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F8951-A154-487D-AF35-65378B5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3714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9F0CA-8281-495D-8378-12DCD3A1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34C05-48FA-4AE9-A88E-ACF61DAB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recoverable push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CEF0B-BCC5-47E0-9C3E-CA5839EE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Permanent/resolved: drop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E9272-5D5E-4C6B-AF81-650C6DFE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886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15C6E-0E52-4457-9711-FA8E117E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AAF91-3AC5-421F-AAF5-9B75B8C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object removed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ADAEB-18E8-4F7C-8353-25F00D9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3886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0709F-C775-46CC-8134-0E4967F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CD415-942B-4E96-A33C-67695C5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MEMORY replica present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32719-0AA2-405C-B230-8016193D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3886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520340-9678-4025-9FC5-64D700E5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452C6-F70C-4BFD-8770-C80CC2E4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no LOCAL_DISK source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38D1F-E564-4578-90FF-3CC35E28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3886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46F70-290B-425B-8CB5-1C762BC7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0CEF89-3103-4648-972C-4FBE6B5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291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task already in flight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74CF65-0FED-4EDC-A626-B049749D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29050"/>
            <a:ext cx="1600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928"/>
          </a:solidFill>
          <a:ln xmlns:a="http://schemas.openxmlformats.org/drawingml/2006/main" w="9525">
            <a:solidFill>
              <a:srgbClr val="3151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DB0417-2284-4239-B52C-4EEA43C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4335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PromotionQueue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250846-2E24-46EB-9E0A-0D07D0D2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624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7C7B33-1A70-40D0-AA00-A7958A8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624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718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2716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88F61-0D32-4D4B-8307-F1118DC0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1F532-756D-427B-94F7-8D2F3C8F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BDA41-9F7C-4046-9C93-583F868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08E7-2CA9-4D32-8D6E-F523C146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5902-3480-4FBD-91E9-4425D745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5D06-7557-47D2-83F9-DE7C306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9271D-A13C-4200-B99F-1D0B655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Bounded by design: 数量、时间、尝试次数、锁边界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CF910-1EFF-428D-97DC-48812303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这个方案的目标是可靠增强，而不是引入新的后台放大器。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7A523-6346-4C13-8C89-2A112965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5FA5E-4187-4C12-8A2D-D699E0D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EAF68-E82E-40BB-AA57-2C5E0FDC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002A1-3A25-4A6F-872D-509D167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51C6E-94DB-4055-9C91-E70C7589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31A7A-5995-4BC9-B020-C84CC0FC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50,000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FF472-077A-41AE-87C5-C995931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global candidate limit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7C9B3-5528-4F7E-9F2C-815491D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91B4C-02EF-4A2C-B281-62E52B76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9439D-C59A-4870-A534-6BF06111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24CCC-86CE-48DC-B31C-5292C006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max retry attempts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8E748-7991-4AFB-8006-7324B92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D1B0C-389A-4EA6-AD40-EF81A74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153F6-F572-4239-8DCC-61886F4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60s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7781E-59CE-40C9-9685-BF8B3EE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48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candidate TTL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6EE3B-F801-4134-A9D1-B29D6E1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C47FE-441E-4A28-BB91-CB3EDC5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AC95F-A183-4794-94F9-EF9EAFEF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10ms -&gt; 1s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13EF1-0A37-4590-8FD9-C9084B3D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exponential backoff cap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F8FF0-52A2-4F5D-AD14-588832D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D61E8-CAAA-4350-AD69-EA89D09E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25C12-E7A9-4287-9357-76F510F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64 shards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98107-7E81-4322-8245-341C2B23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053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scan per retry tick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9F61F-BDE4-452D-99FB-3520A0E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2724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6BF684-D01F-4334-AA21-ED01D639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F174F-D2DD-4173-A3EA-FFA63D4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snapshot lock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5D599-2D44-4E9E-BDC9-14CD243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safe metadata re-entry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26929-FADA-423E-86ED-5F78887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Atomic reservation + saturating decrement 防止 reset / cleanup 交错时计数器下溢。</a:t>
            </a:r>
          </a:p>
        </p:txBody>
      </p:sp>
    </p:spTree>
    <p:extLst>
      <p:ext uri="{BB962C8B-B14F-4D97-AF65-F5344CB8AC3E}">
        <p14:creationId xmlns:p14="http://schemas.microsoft.com/office/powerpoint/2010/main" val="918323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9A6F2-0324-4BE1-9081-F1F0438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A6471-AD94-42AE-905A-8C4C9FB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B5C19-0CF9-4D0E-934E-53C7181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85199-FF71-45A6-9503-680C6F55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6AC9-4112-4A13-9BFE-4862ECB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45969-1738-426C-A0D4-1D54A9FA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CODE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81CA8-EC48-4E31-BFB3-1DF2FC82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改动集中、接口稳定、行为可审计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32D28-D4E8-4CA7-8570-A706DB08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核心变化限制在 master-side promotion-on-hit 链路。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FBA52-9E52-44A1-B6B8-709B0EC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C283C-43E6-4FF0-BBAC-1A2BBC24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9CB05-B5E0-435A-8631-F5E5AB55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E6575-AA21-45F5-9EAA-0C3F13F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49339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1E3A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74DAC-7F3B-49AE-A350-5907A7B2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Modified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3CD64-9C3D-4799-98CA-8A997BF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E922C-F5F1-45FB-8978-43E553E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525A0-74BD-4535-A9C0-7A0FCBF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include/master_service.h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F94F9-BE18-4140-91CD-7C2DC89E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75619-11D0-4597-9AC7-B1FDCAEC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EA6EB-140E-4504-9251-4EB81570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src/master_service.cpp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E37EA-8454-47FF-82D7-4CAF267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A3CB2-14E7-45B5-83B6-B4C410D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A236F-EA1E-4EB4-B6DF-F886FD7F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tests/promotion_on_hit_test.cpp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BFE48-76C3-46EA-BDE1-8564C6B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9D000-C0DC-41D3-9C65-1A2C7BE8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163EF-EFD7-428B-8621-00F524D5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tests/promotion_retry_benchmark_test.cpp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8B887-61D9-466F-95FB-CD7040E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3E100-C371-4E5E-BE1D-13BAA383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8595A-995C-42B9-B2DA-1F7B3ED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docs/ccf-mooncake/*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F89AB-25DB-4C6B-9ADC-A76F5B7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9339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1E3A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EC1A3-2BF0-4D64-8BBD-9950DAE9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No external protocol change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8D197-901E-443D-A617-2E13F1E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A47A6-274F-4FC9-8C87-88B3EA8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39801-A89D-4C4E-A82E-E56CDC43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no new RPC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D2341-CECF-4B47-85EA-B6DA882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7F73C-A13A-4C00-81D6-1B73537D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BA927-72F7-45DB-9D66-66AA193F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no client heartbeat schema change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05562E-BEE6-4E87-B359-248CFCE2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481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54BE95-EA86-4F5A-ABB9-59DAC05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481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D6212B-DB97-4EAE-8EFA-F582778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no foreground Get wait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271CE1-06AC-40E1-9376-9530433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01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7BFCD5-DF82-4B12-B0B0-BE94E19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01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0EEA59-7F0E-405F-9E10-9DCD633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reuse existing PromotionTask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FBEDA9-C29E-48D5-A9D8-66E1505D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720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80E7C7-F15C-4AEA-855F-523BD1B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720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792F3C-C485-463C-89D2-C7A5CCD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reuse existing metrics funnel</a:t>
            </a:r>
          </a:p>
        </p:txBody>
      </p:sp>
    </p:spTree>
    <p:extLst>
      <p:ext uri="{BB962C8B-B14F-4D97-AF65-F5344CB8AC3E}">
        <p14:creationId xmlns:p14="http://schemas.microsoft.com/office/powerpoint/2010/main" val="180484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0F26BE-61B2-491A-B512-ABC5554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E8E6F-2F39-46BC-9755-0F1B6A6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35139-8AE1-4D4E-9151-E0FDE1B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54C9B-D9E5-47C2-94F8-2234A9A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FD698-7F39-45DF-8A27-B7CB520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ED8FA-25EF-4507-A15C-7750F686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TEST MATRIX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60E8A-FF2C-4C70-AF0A-E42C0C8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43 个关键可靠性回归测试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47FA4-71A0-4D8D-99D2-8F43257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新增测试不是只测 happy path，而是覆盖清理、失败分类、边界和竞态。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09BF4-330B-4D3C-A3BE-0676FAB1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5B341-F4F6-40C4-BBE3-45E1858B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736F0-64A3-4E72-B71E-969DD855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760F4-79D0-42E7-AD65-9D208567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0172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C2AC0-195F-4159-B232-AFC2062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C2EBB-74CA-4604-B569-E57D4D2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cap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EE092-AB4F-4F05-9525-A21BCD59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slot freed -&gt; auto requeue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656C1-9810-44B3-8EB6-418D5C2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74599-8C84-4EB4-808D-DB665F8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172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1C2D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E3722-A4E9-43DE-BF67-7485A84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88B88-16EF-4C80-BB53-9624106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permanent drop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64107-957B-4938-BCF1-3AD41230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object removed -&gt; no retry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A6FDD-E4C7-4E8D-B6ED-21C75DA0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33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C235C-019F-4087-8A8B-7614EE4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10172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87918-BADC-4D00-B703-1E72439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66BE2-776E-4590-B4C1-3B0B9BA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max attempts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91394-2673-4F1A-9BBE-68A165B3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bounded backoff -&gt; give 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AEFF7-E69A-4843-9BEF-8EC49EF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C914C-D716-40AD-A997-9B51A7BC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10172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1C2D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98903-1571-4453-98EA-2E49CC5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35A7D-FC82-4F28-8434-203283C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metadata reset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E334A-FA0A-43A2-8216-8DCB4B5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clear candidates + in-flight soft cap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1B8C60-344A-4131-B234-02314C8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62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055D59-F99B-455B-9472-67E74E7B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10172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542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B068E-DE94-4532-99B4-F8FFEDEB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815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7E738-DB9A-41E0-9669-BFC7FA6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counter safety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8A2A5-F825-4588-9C4C-51CBED94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saturating decrement no underflow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0AF78-029E-46DE-BADA-437242C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76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D57334-D90F-4003-B186-41949FA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381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70CF7C-3668-495A-B7A3-174DC620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798D91-94B3-4B1C-B7A6-23B1555E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43/43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70F77-505E-40DF-A23B-BCCB2EE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promotion_on_hit_test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14C80D-8FD9-4E8C-8A20-D253A34C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31432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2D42EB-638E-463C-8DD7-E8DFD59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1CEB81-3A11-4B1E-B43F-0283D043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94438F-8DF8-4D48-B9B4-ED4581E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483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promotion_retry_benchmark_test</a:t>
            </a:r>
          </a:p>
        </p:txBody>
      </p:sp>
    </p:spTree>
    <p:extLst>
      <p:ext uri="{BB962C8B-B14F-4D97-AF65-F5344CB8AC3E}">
        <p14:creationId xmlns:p14="http://schemas.microsoft.com/office/powerpoint/2010/main" val="1232936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A7816-D960-4524-B983-C4D56760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EC0CA-1645-4D59-829D-0AE3BF46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8BA35-CD71-4C73-BFED-D0B527D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5D5E5-F44B-4DA8-A693-DDE2366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EE5AA-A96D-497C-A6CB-411C6066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2A58E-1A71-4054-B869-6D36FEAE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BENCHMARK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78D80-831D-4777-839D-19FFD49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同一 workload：slot 释放后不再需要额外 foreground 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9B3EF-8523-47AF-AFC5-D6EC7624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benchmark 只通过 public heartbeat 观察后台 retry 是否可见。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59A86-B343-48E8-BEC0-2545A89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FE171-A4C2-4889-87D1-27D4F26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C7D8D-41EE-4407-9ECC-2EFC98B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903E4-BE55-4454-B18A-5F9510D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4686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8EF43-9FB8-4D3F-8FA2-CEDEDA28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Before semantics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A7321-BCAF-44CA-BB58-819E52B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fallback foreground 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472CD-7AEF-4CA9-B1E9-6E81536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13555-A130-41D3-836A-7C1E85E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64009-BB67-490B-B7AD-D8FD95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4686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71423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C7E3F-C9EA-4A71-9E96-37D612E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This 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CF7FA-6594-4222-A0CD-47763FE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fallback foreground 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9D2F9-F136-473B-92DA-549BBF6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209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F29CD-D3CE-4288-B387-85D7BBEC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14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61AAAE-3632-4671-B8E4-83EBFC7B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38BDF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38BDF8"/>
                </a:solidFill>
                <a:latin typeface="Consolas"/>
                <a:ea typeface="Consolas"/>
                <a:cs typeface="Consolas"/>
              </a:rPr>
              <a:t>PROMOTION_RETRY_BENCHMARK_JSON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EA526-A549-4370-A13E-A900698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{"retry_visible":true,"fallback_reads_needed":0,"retry_poll_ms":171}</a:t>
            </a:r>
          </a:p>
        </p:txBody>
      </p:sp>
    </p:spTree>
    <p:extLst>
      <p:ext uri="{BB962C8B-B14F-4D97-AF65-F5344CB8AC3E}">
        <p14:creationId xmlns:p14="http://schemas.microsoft.com/office/powerpoint/2010/main" val="694405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6932E-F763-4972-9FDB-61161590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84B3-4E7C-4A8C-9256-1070FF8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28643-50E9-4E82-9E16-D19E292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7314D-7AA4-471E-AED7-63A8DEBA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342900"/>
            <a:ext cx="3905250" cy="2190750"/>
          </a:xfrm>
          <a:custGeom xmlns:a="http://schemas.openxmlformats.org/drawingml/2006/main">
            <a:pathLst>
              <a:path w="3905250" h="2190750">
                <a:moveTo>
                  <a:pt x="0" y="0"/>
                </a:moveTo>
                <a:lnTo>
                  <a:pt x="3905250" y="0"/>
                </a:lnTo>
                <a:lnTo>
                  <a:pt x="3905250" y="1676400"/>
                </a:lnTo>
                <a:lnTo>
                  <a:pt x="685800" y="2190750"/>
                </a:lnTo>
                <a:close/>
              </a:path>
            </a:pathLst>
          </a:custGeom>
          <a:solidFill xmlns:a="http://schemas.openxmlformats.org/drawingml/2006/main">
            <a:srgbClr val="0D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79973-5F2A-41C6-8664-5B9F0F5B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D09A0-9744-4F29-B8F4-4BB47DA3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DA250-0350-4A42-8CCB-C31FC4BB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33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把 promotion-on-hit 做成可恢复、可约束、可清理的机制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D179-5097-49A5-9A16-7AF1B78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这个提交既修复可靠性缺口，也为后续 SGLang HiCache workload 提供更稳定的 L2 -&gt; L1 行为。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4CB35-1ED0-49A1-8870-46F22729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2C103-9FCD-4178-9327-60EFC8E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Mooncake Store / Promotion Retry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C8D9B-F279-4C98-B830-3D5F9880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986AC-93C1-44CC-805C-AF741AD3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952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3F999-99AE-4BF0-ADE1-9D722641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E5DA4-EAEF-4235-8027-27283C9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No RPC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C5275-BB2A-488E-A822-B0054EE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low integration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0E580-DFA9-49A9-BF03-9F9C856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52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42D93-6BAF-4865-BE00-8E566205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023BD-169D-418D-9A37-694990EE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Bounded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D17B1-AED6-467A-85B2-8F57201E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candidate limit + TTL + backoff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595DE-73C9-4C9B-B54A-A889B28F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2952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F1F31"/>
          </a:solidFill>
          <a:ln xmlns:a="http://schemas.openxmlformats.org/drawingml/2006/main" w="9525">
            <a:solidFill>
              <a:srgbClr val="1D39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80FFA-E5B2-4FB4-A6DD-B4DD95C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ADCDE-BE59-4B11-A0C9-B181AAD7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Measured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D0242-270F-4412-9093-BB748A0F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deterministic benchmark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E90B9-DD50-4ACC-A9FC-FFB3F45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Reproduction entry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25FF4-9A69-49F5-8F02-1F8F0F45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809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16475-51F4-4850-ABAD-7270DFB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CCE78-EB6A-4C3A-A316-0CBAC830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branch: ljb/ccf-store-promotion-retry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5A5FA-AB30-404F-BA71-23DBADA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809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057A9-AE67-4428-A5AD-400F44F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DCF8B-E9F1-412B-B7D8-373188B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commit: recorded in release manifest and SHA256SUMS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B2175-EBCC-467E-A54A-229508AA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809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4B687-3BAA-4840-ADEE-46EF7B4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9D27A4-7E1E-4B5C-82F9-63305332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GitLink: gitlink.org.cn/mooncake-track/Mooncake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B2257-DDD9-4406-B2F2-24D356E7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809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D4744C-0818-4D8A-9C26-BE95A04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69376-E54B-463F-9CAA-DF472595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57825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issue: github.com/kvcache-ai/Mooncake/issues/2233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1EC329-48CA-4D6C-AFE9-C4520F81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809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91827"/>
          </a:solidFill>
          <a:ln xmlns:a="http://schemas.openxmlformats.org/drawingml/2006/main" w="9525">
            <a:solidFill>
              <a:srgbClr val="18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38AC35-9A44-46D6-99BC-DF1C750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DC9571-0590-441E-ACC2-9B3644A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88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DBEAFE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BEAFE"/>
                </a:solidFill>
                <a:latin typeface="Consolas"/>
                <a:ea typeface="Consolas"/>
                <a:cs typeface="Consolas"/>
              </a:rPr>
              <a:t>tests: promotion_on_hit_test + promotion_retry_benchmark_test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5C52D-1FC5-4E90-B3CD-CC3B67FB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626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Ready to reproduce</a:t>
            </a:r>
          </a:p>
        </p:txBody>
      </p:sp>
    </p:spTree>
    <p:extLst>
      <p:ext uri="{BB962C8B-B14F-4D97-AF65-F5344CB8AC3E}">
        <p14:creationId xmlns:p14="http://schemas.microsoft.com/office/powerpoint/2010/main" val="491202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2026-06-30T04:22:20.5650000Z</dcterms:created>
  <dcterms:modified xsi:type="dcterms:W3CDTF">2026-06-30T04:22:20.5650000Z</dcterms:modified>
</coreProperties>
</file>